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ntent-master/52f639c3-ff8a-5dd3-aeb9-038fcd01ac0f/scratchpad/icons/logo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783080" y="1170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Dayne Core Technologies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inbox that measures—and closes—your attention leak.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Instagram, Facebook, TikTok, LinkedIn, X and Google Reviews — side by side, ranked by who’s waited longest. Every reply is AI-drafted and human-sent, natively.</a:t>
            </a:r>
            <a:endParaRPr lang="en-US" sz="1600" dirty="0"/>
          </a:p>
        </p:txBody>
      </p:sp>
      <p:pic>
        <p:nvPicPr>
          <p:cNvPr id="7" name="Image 1" descr="/tmp/claude-0/-home-user-Content-master/52f639c3-ff8a-5dd3-aeb9-038fcd01ac0f/scratchpad/icons/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pic>
        <p:nvPicPr>
          <p:cNvPr id="9" name="Image 2" descr="/tmp/claude-0/-home-user-Content-master/52f639c3-ff8a-5dd3-aeb9-038fcd01ac0f/scratchpad/icons/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53492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4248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pic>
        <p:nvPicPr>
          <p:cNvPr id="11" name="Image 3" descr="/tmp/claude-0/-home-user-Content-master/52f639c3-ff8a-5dd3-aeb9-038fcd01ac0f/scratchpad/icons/face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534924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65576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00" dirty="0"/>
          </a:p>
        </p:txBody>
      </p:sp>
      <p:pic>
        <p:nvPicPr>
          <p:cNvPr id="13" name="Image 4" descr="/tmp/claude-0/-home-user-Content-master/52f639c3-ff8a-5dd3-aeb9-038fcd01ac0f/scratchpad/icons/tikt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534924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46904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00" dirty="0"/>
          </a:p>
        </p:txBody>
      </p:sp>
      <p:pic>
        <p:nvPicPr>
          <p:cNvPr id="15" name="Image 5" descr="/tmp/claude-0/-home-user-Content-master/52f639c3-ff8a-5dd3-aeb9-038fcd01ac0f/scratchpad/icons/linked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5349240"/>
            <a:ext cx="457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28232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pic>
        <p:nvPicPr>
          <p:cNvPr id="17" name="Image 6" descr="/tmp/claude-0/-home-user-Content-master/52f639c3-ff8a-5dd3-aeb9-038fcd01ac0f/scratchpad/icons/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534924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909560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pic>
        <p:nvPicPr>
          <p:cNvPr id="19" name="Image 7" descr="/tmp/claude-0/-home-user-Content-master/52f639c3-ff8a-5dd3-aeb9-038fcd01ac0f/scratchpad/icons/goog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28" y="5349240"/>
            <a:ext cx="457200" cy="4572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390888" y="5879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1" name="Text 11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customer: Avion Hub — WhatsApp-native travel agency, Lagos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can’t be in six places at once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F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WAITING FOR A REPLY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46704" y="196596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83864" y="2286000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9d 10h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83864" y="324612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HAS WAITED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96596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81928" y="2286000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F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81928" y="324612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FIRST RESPONSE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42832" y="196596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9992" y="2286000"/>
            <a:ext cx="2267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79992" y="324612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WITHIN THE 5-MIN GOAL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negligent — attention simply leaked to whichever app was open. And the ignored customer doesn’t complain. They buy elsewhere, silently.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a live Command Centre tenant — not a projection.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owner. Six inboxes. Zero visibility.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owner is deep in a WhatsApp thread, Instagram DMs pile up, a Facebook “is this available?” sits cold, and a 2-star review festers for nine days.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shared queue, no ranking by urgency — just whichever app happens to be open. The most valuable customer can be the most invisible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3520440"/>
            <a:ext cx="0" cy="-1600200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7" name="Image 0" descr="/tmp/claude-0/-home-user-Content-master/52f639c3-ff8a-5dd3-aeb9-038fcd01ac0f/scratchpad/icons/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627632"/>
            <a:ext cx="585216" cy="585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32520" y="3520440"/>
            <a:ext cx="1251087" cy="-997708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9" name="Image 1" descr="/tmp/claude-0/-home-user-Content-master/52f639c3-ff8a-5dd3-aeb9-038fcd01ac0f/scratchpad/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999" y="2230124"/>
            <a:ext cx="585216" cy="5852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732520" y="3520440"/>
            <a:ext cx="1560080" cy="356078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11" name="Image 2" descr="/tmp/claude-0/-home-user-Content-master/52f639c3-ff8a-5dd3-aeb9-038fcd01ac0f/scratchpad/icons/face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992" y="3583910"/>
            <a:ext cx="585216" cy="58521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732520" y="3520440"/>
            <a:ext cx="694301" cy="1441730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13" name="Image 3" descr="/tmp/claude-0/-home-user-Content-master/52f639c3-ff8a-5dd3-aeb9-038fcd01ac0f/scratchpad/icons/tik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213" y="4669562"/>
            <a:ext cx="585216" cy="58521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732520" y="3520440"/>
            <a:ext cx="-694301" cy="1441730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15" name="Image 4" descr="/tmp/claude-0/-home-user-Content-master/52f639c3-ff8a-5dd3-aeb9-038fcd01ac0f/scratchpad/icons/linked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611" y="4669562"/>
            <a:ext cx="585216" cy="5852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732520" y="3520440"/>
            <a:ext cx="-1560080" cy="356078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17" name="Image 5" descr="/tmp/claude-0/-home-user-Content-master/52f639c3-ff8a-5dd3-aeb9-038fcd01ac0f/scratchpad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832" y="3583910"/>
            <a:ext cx="585216" cy="58521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520440"/>
            <a:ext cx="-1251087" cy="-997708"/>
          </a:xfrm>
          <a:prstGeom prst="line">
            <a:avLst/>
          </a:prstGeom>
          <a:noFill/>
          <a:ln w="15875">
            <a:solidFill>
              <a:srgbClr val="263047"/>
            </a:solidFill>
            <a:prstDash val="solid"/>
          </a:ln>
        </p:spPr>
      </p:sp>
      <p:pic>
        <p:nvPicPr>
          <p:cNvPr id="19" name="Image 6" descr="/tmp/claude-0/-home-user-Content-master/52f639c3-ff8a-5dd3-aeb9-038fcd01ac0f/scratchpad/icons/goog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8825" y="2230124"/>
            <a:ext cx="585216" cy="585216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229600" y="3017520"/>
            <a:ext cx="1005840" cy="1005840"/>
          </a:xfrm>
          <a:prstGeom prst="ellipse">
            <a:avLst/>
          </a:prstGeom>
          <a:solidFill>
            <a:srgbClr val="1B2434"/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8229600" y="3337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 attention by urgency — not by which app is open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64992" cy="3840480"/>
          </a:xfrm>
          <a:prstGeom prst="roundRect">
            <a:avLst>
              <a:gd name="adj" fmla="val 326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5" name="Image 0" descr="/tmp/claude-0/-home-user-Content-master/52f639c3-ff8a-5dd3-aeb9-038fcd01ac0f/scratchpad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who’s waiting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28163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Attention Leak dashboard ranks every channel by unanswered load and oldest wait — the number that makes the problem undeniable.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69664" y="1965960"/>
            <a:ext cx="3364992" cy="3840480"/>
          </a:xfrm>
          <a:prstGeom prst="roundRect">
            <a:avLst>
              <a:gd name="adj" fmla="val 326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9" name="Image 1" descr="/tmp/claude-0/-home-user-Content-master/52f639c3-ff8a-5dd3-aeb9-038fcd01ac0f/scratchpad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286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3984" y="310896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 natively, everywhere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43984" y="3749040"/>
            <a:ext cx="28163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thread is a real two-way conversation. Replies land in the customer’s own platform thread — never a bridge or relay.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790688" y="1965960"/>
            <a:ext cx="3364992" cy="3840480"/>
          </a:xfrm>
          <a:prstGeom prst="roundRect">
            <a:avLst>
              <a:gd name="adj" fmla="val 3261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13" name="Image 2" descr="/tmp/claude-0/-home-user-Content-master/52f639c3-ff8a-5dd3-aeb9-038fcd01ac0f/scratchpad/icons/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22860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5008" y="3108960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drafts, human sends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65008" y="3749040"/>
            <a:ext cx="281635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drafted for you and sent only when you approve, edit, or reject it. The AI assists; it never auto-sends.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inboxes to one queue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40764" y="1783080"/>
            <a:ext cx="438912" cy="43891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5" name="Text 3"/>
          <p:cNvSpPr/>
          <p:nvPr/>
        </p:nvSpPr>
        <p:spPr>
          <a:xfrm>
            <a:off x="1540764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/tmp/claude-0/-home-user-Content-master/52f639c3-ff8a-5dd3-aeb9-038fcd01ac0f/scratchpad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 accounts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WhatsApp, Instagram and more — mock for a demo, live when you’re ready.</a:t>
            </a:r>
            <a:endParaRPr lang="en-US" sz="1150" dirty="0"/>
          </a:p>
        </p:txBody>
      </p:sp>
      <p:pic>
        <p:nvPicPr>
          <p:cNvPr id="9" name="Image 1" descr="/tmp/claude-0/-home-user-Content-master/52f639c3-ff8a-5dd3-aeb9-038fcd01ac0f/scratchpad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04872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7972" y="1783080"/>
            <a:ext cx="438912" cy="43891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1" name="Text 7"/>
          <p:cNvSpPr/>
          <p:nvPr/>
        </p:nvSpPr>
        <p:spPr>
          <a:xfrm>
            <a:off x="4347972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2" descr="/tmp/claude-0/-home-user-Content-master/52f639c3-ff8a-5dd3-aeb9-038fcd01ac0f/scratchpad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388" y="22860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55848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inbox ranks by urgency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355848" y="38862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channel, one queue — sorted by who has waited longest.</a:t>
            </a:r>
            <a:endParaRPr lang="en-US" sz="1150" dirty="0"/>
          </a:p>
        </p:txBody>
      </p:sp>
      <p:pic>
        <p:nvPicPr>
          <p:cNvPr id="15" name="Image 3" descr="/tmp/claude-0/-home-user-Content-master/52f639c3-ff8a-5dd3-aeb9-038fcd01ac0f/scratchpad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2404872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155180" y="1783080"/>
            <a:ext cx="438912" cy="43891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7" name="Text 11"/>
          <p:cNvSpPr/>
          <p:nvPr/>
        </p:nvSpPr>
        <p:spPr>
          <a:xfrm>
            <a:off x="7155180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4" descr="/tmp/claude-0/-home-user-Content-master/52f639c3-ff8a-5dd3-aeb9-038fcd01ac0f/scratchpad/icons/spark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596" y="228600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63056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 the reply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163056" y="38862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brand voice and the thread’s own history.</a:t>
            </a:r>
            <a:endParaRPr lang="en-US" sz="1150" dirty="0"/>
          </a:p>
        </p:txBody>
      </p:sp>
      <p:pic>
        <p:nvPicPr>
          <p:cNvPr id="21" name="Image 5" descr="/tmp/claude-0/-home-user-Content-master/52f639c3-ff8a-5dd3-aeb9-038fcd01ac0f/scratchpad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2404872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962388" y="1783080"/>
            <a:ext cx="438912" cy="438912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3" name="Text 15"/>
          <p:cNvSpPr/>
          <p:nvPr/>
        </p:nvSpPr>
        <p:spPr>
          <a:xfrm>
            <a:off x="9962388" y="1783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6" descr="/tmp/claude-0/-home-user-Content-master/52f639c3-ff8a-5dd3-aeb9-038fcd01ac0f/scratchpad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1804" y="2286000"/>
            <a:ext cx="640080" cy="6400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70264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— it sends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8970264" y="388620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natively, queued through flaky networks, never lost or duplicated.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offline, it delivers the moment you reconnect — never lost, never sent twice.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exactly who’s waiting</a:t>
            </a:r>
            <a:endParaRPr lang="en-US" sz="2700" dirty="0"/>
          </a:p>
        </p:txBody>
      </p:sp>
      <p:pic>
        <p:nvPicPr>
          <p:cNvPr id="4" name="Image 0" descr="/tmp/claude-0/-home-user-Content-master/52f639c3-ff8a-5dd3-aeb9-038fcd01ac0f/scratchpa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0116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equity ranks every channel by neglect — not just a raw unread count.</a:t>
            </a:r>
            <a:endParaRPr lang="en-US" sz="1250" dirty="0"/>
          </a:p>
        </p:txBody>
      </p:sp>
      <p:pic>
        <p:nvPicPr>
          <p:cNvPr id="6" name="Image 1" descr="/tmp/claude-0/-home-user-Content-master/52f639c3-ff8a-5dd3-aeb9-038fcd01ac0f/scratchpad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most-neglected channel is named outright, with one click through to it.</a:t>
            </a:r>
            <a:endParaRPr lang="en-US" sz="1250" dirty="0"/>
          </a:p>
        </p:txBody>
      </p:sp>
      <p:pic>
        <p:nvPicPr>
          <p:cNvPr id="8" name="Image 2" descr="/tmp/claude-0/-home-user-Content-master/52f639c3-ff8a-5dd3-aeb9-038fcd01ac0f/scratchpad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420624" cy="4206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41148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refreshed live — not a static report from last week.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709160" y="1051560"/>
            <a:ext cx="6949440" cy="5440680"/>
          </a:xfrm>
          <a:prstGeom prst="roundRect">
            <a:avLst>
              <a:gd name="adj" fmla="val 1345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3" descr="/home/user/Content-master/pitch/dashboard-her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64608" y="1207008"/>
            <a:ext cx="6638544" cy="46085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64608" y="5870448"/>
            <a:ext cx="6638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dashboard — live tenant data, Avion Hub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features, one accountability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5" name="Image 0" descr="/tmp/claude-0/-home-user-Content-master/52f639c3-ff8a-5dd3-aeb9-038fcd01ac0f/scratchpa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67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Leak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count, oldest wait, and per-channel response equity.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87952" y="196596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9" name="Image 1" descr="/tmp/claude-0/-home-user-Content-master/52f639c3-ff8a-5dd3-aeb9-038fcd01ac0f/scratchpad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194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10912" y="2167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native messaging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16552" y="2834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continue or reply on any platform — in the customer’s own thread.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27264" y="196596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13" name="Image 2" descr="/tmp/claude-0/-home-user-Content-master/52f639c3-ff8a-5dd3-aeb9-038fcd01ac0f/scratchpad/icons/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2194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50224" y="21671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drafts, human sends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55864" y="2834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drafted for you, sent only when you approve 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096512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17" name="Image 3" descr="/tmp/claude-0/-home-user-Content-master/52f639c3-ff8a-5dd3-aeb9-038fcd01ac0f/scratchpad/icons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251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on flaky networks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" y="4965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offline; it delivers the moment you reconnect. Never lost, never duplicated.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187952" y="4096512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21" name="Image 4" descr="/tmp/claude-0/-home-user-Content-master/52f639c3-ff8a-5dd3-aeb9-038fcd01ac0f/scratchpad/icons/ba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43251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Naira-native billing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416552" y="4965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via Monnify — card or bank transfer, built for how Lagos SMEs pay.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827264" y="4096512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pic>
        <p:nvPicPr>
          <p:cNvPr id="25" name="Image 5" descr="/tmp/claude-0/-home-user-Content-master/52f639c3-ff8a-5dd3-aeb9-038fcd01ac0f/scratchpad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432511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50224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 own accounts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055864" y="4965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real WhatsApp, Instagram and more. Mock for the demo, live on a config switch.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an inbox — an accountability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B2434"/>
          </a:solidFill>
          <a:ln w="12700">
            <a:solidFill>
              <a:srgbClr val="263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social inbox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73736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6233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7373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317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33172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23317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response equity per channel, not just a raw unread badge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2990088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9008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99008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990088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99008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99008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natively into the platform thread — never a bridge or relay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64845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64845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364845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364845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64845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AI: approve, edit or reject — never auto-send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306824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068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30682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4306824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43068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30682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billing via Monnify — card or reserved bank account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8640" y="496519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9651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96519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496519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49651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496519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offline queue — nothing lost on a flaky connection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48640" y="562356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31A29"/>
          </a:solidFill>
          <a:ln w="9525">
            <a:solidFill>
              <a:srgbClr val="263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56235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43000" y="56235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typically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562356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111A2E"/>
          </a:solidFill>
          <a:ln w="9525">
            <a:solidFill>
              <a:srgbClr val="2A3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56235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37960" y="56235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truth about platform limits, instead of faking an inbox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Naira-native pricing, built for Lagos SMEs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64992" cy="3246120"/>
          </a:xfrm>
          <a:prstGeom prst="roundRect">
            <a:avLst>
              <a:gd name="adj" fmla="val 3380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₦15,000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816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 · 1 seat · 200 AI drafts / mo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9664" y="1965960"/>
            <a:ext cx="3364992" cy="3246120"/>
          </a:xfrm>
          <a:prstGeom prst="roundRect">
            <a:avLst>
              <a:gd name="adj" fmla="val 3380"/>
            </a:avLst>
          </a:prstGeom>
          <a:solidFill>
            <a:srgbClr val="16233F"/>
          </a:solidFill>
          <a:ln w="19050">
            <a:solidFill>
              <a:srgbClr val="5B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17647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764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43984" y="22860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3984" y="265176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₦45,000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43984" y="338328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43984" y="3840480"/>
            <a:ext cx="2816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channels · 5 seats · 2,000 AI drafts / mo · Google Reviews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90688" y="1965960"/>
            <a:ext cx="3364992" cy="3246120"/>
          </a:xfrm>
          <a:prstGeom prst="roundRect">
            <a:avLst>
              <a:gd name="adj" fmla="val 3380"/>
            </a:avLst>
          </a:prstGeom>
          <a:solidFill>
            <a:srgbClr val="131A29"/>
          </a:solidFill>
          <a:ln w="12700">
            <a:solidFill>
              <a:srgbClr val="263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22860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5008" y="265176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₦120,000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065008" y="338328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65008" y="3840480"/>
            <a:ext cx="2816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channels · 20 seats · Unlimited AI drafts · Google Reviews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 bank transfer via Monnify — subscriptions never activate from a client-side success screen, only a verified server-side webhook.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lands, and what’s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SMEs running commerce over WhatsApp and social DMs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agencies, retail, hospitality and services — anyone juggling six inboxes at once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tenant: Avion Hub, a WhatsApp-native travel agency in Lagos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integration — live-capable today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connect shipped for Facebook, Instagram, X, LinkedIn, Google and TikTok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platform app reviews (Meta, TikTok) to flip each channel from mock to 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STATUS TODAY</a:t>
            </a:r>
            <a:endParaRPr lang="en-US" sz="1100" dirty="0"/>
          </a:p>
        </p:txBody>
      </p:sp>
      <p:pic>
        <p:nvPicPr>
          <p:cNvPr id="9" name="Image 0" descr="/tmp/claude-0/-home-user-Content-master/52f639c3-ff8a-5dd3-aeb9-038fcd01ac0f/scratchpad/icons/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2064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Live-capable</a:t>
            </a:r>
            <a:endParaRPr lang="en-US" sz="850" dirty="0"/>
          </a:p>
        </p:txBody>
      </p:sp>
      <p:pic>
        <p:nvPicPr>
          <p:cNvPr id="12" name="Image 1" descr="/tmp/claude-0/-home-user-Content-master/52f639c3-ff8a-5dd3-aeb9-038fcd01ac0f/scratchpad/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51206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9384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929384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pic>
        <p:nvPicPr>
          <p:cNvPr id="15" name="Image 2" descr="/tmp/claude-0/-home-user-Content-master/52f639c3-ff8a-5dd3-aeb9-038fcd01ac0f/scratchpad/icons/face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51206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47288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447288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pic>
        <p:nvPicPr>
          <p:cNvPr id="18" name="Image 3" descr="/tmp/claude-0/-home-user-Content-master/52f639c3-ff8a-5dd3-aeb9-038fcd01ac0f/scratchpad/icons/tik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5120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65192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965192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pic>
        <p:nvPicPr>
          <p:cNvPr id="21" name="Image 4" descr="/tmp/claude-0/-home-user-Content-master/52f639c3-ff8a-5dd3-aeb9-038fcd01ac0f/scratchpad/icons/linked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512064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83096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483096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pic>
        <p:nvPicPr>
          <p:cNvPr id="24" name="Image 5" descr="/tmp/claude-0/-home-user-Content-master/52f639c3-ff8a-5dd3-aeb9-038fcd01ac0f/scratchpad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12064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01000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8001000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pic>
        <p:nvPicPr>
          <p:cNvPr id="27" name="Image 6" descr="/tmp/claude-0/-home-user-Content-master/52f639c3-ff8a-5dd3-aeb9-038fcd01ac0f/scratchpad/icons/goog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5120640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518904" y="55412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9518904" y="577900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ready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ntent-master/52f639c3-ff8a-5dd3-aeb9-038fcd01ac0f/scratchpad/icons/logo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leaking customers to your own inbox.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737360" y="3657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— one inbox that measures, and closes, your attention leak.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815688" y="452628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5B8CFF"/>
          </a:solidFill>
          <a:ln/>
        </p:spPr>
      </p:sp>
      <p:sp>
        <p:nvSpPr>
          <p:cNvPr id="6" name="Text 3"/>
          <p:cNvSpPr/>
          <p:nvPr/>
        </p:nvSpPr>
        <p:spPr>
          <a:xfrm>
            <a:off x="4815688" y="4526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 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Dayne Core Technologies  ·  Command Centre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2026-07-21T21:19:52Z</dcterms:created>
  <dcterms:modified xsi:type="dcterms:W3CDTF">2026-07-21T21:19:52Z</dcterms:modified>
</cp:coreProperties>
</file>